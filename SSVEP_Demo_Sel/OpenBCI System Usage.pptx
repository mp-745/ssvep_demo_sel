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4" d="100"/>
          <a:sy n="124" d="100"/>
        </p:scale>
        <p:origin x="700" y="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a9864275c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a9864275c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a9864275c7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a9864275c7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a9864275c7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a9864275c7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a9864275c7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a9864275c7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a9864275c7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a9864275c7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a9864275c7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a9864275c7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 -&gt; Black (SRB)</a:t>
            </a:r>
            <a:br>
              <a:rPr lang="en"/>
            </a:br>
            <a:r>
              <a:rPr lang="en"/>
              <a:t>GND -&gt; White (Bias)</a:t>
            </a:r>
            <a:br>
              <a:rPr lang="en"/>
            </a:br>
            <a:r>
              <a:rPr lang="en"/>
              <a:t>N1P to N8P -&gt; O1, O2, P7, P3, Pz, P4, P8 (For the BCI project)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a9864275c7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a9864275c7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a9864275c7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a9864275c7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Biosemi laptop py_lslstreamer.py is located in C:\Users\Biosemi-Lab\Desktop\Prajwal\python_openBCI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a9864275c7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a9864275c7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a9864275c7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a9864275c7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a9864275c7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a9864275c7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://docs.openbci.com/docs/04AddOns/01-Headwear/ElectrodeCap#electrode-cap-care-and-cleaning-guide" TargetMode="External"/><Relationship Id="rId3" Type="http://schemas.openxmlformats.org/officeDocument/2006/relationships/hyperlink" Target="https://docs.openbci.com/docs/" TargetMode="External"/><Relationship Id="rId7" Type="http://schemas.openxmlformats.org/officeDocument/2006/relationships/hyperlink" Target="https://docs.openbci.com/docs/01GettingStarted/01-Boards/WiFiGS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docs.openbci.com/docs/06Software/01-OpenBCISoftware/GUIDocs" TargetMode="External"/><Relationship Id="rId5" Type="http://schemas.openxmlformats.org/officeDocument/2006/relationships/hyperlink" Target="https://docs.openbci.com/docs/01GettingStarted/01-Boards/CytonGS" TargetMode="External"/><Relationship Id="rId4" Type="http://schemas.openxmlformats.org/officeDocument/2006/relationships/hyperlink" Target="https://docs.openbci.com/docs/04AddOns/01-Headwear/ElectrodeCap" TargetMode="External"/><Relationship Id="rId9" Type="http://schemas.openxmlformats.org/officeDocument/2006/relationships/hyperlink" Target="https://docs.openbci.com/docs/02Cyton/CytonExternal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pypi.org/project/pyOpenBCI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pypi.org/project/pylsl/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1545450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OpenBCI System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[Usage Instructions]</a:t>
            </a:r>
            <a:endParaRPr sz="3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Available Components</a:t>
            </a:r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Cyton board [8 channels]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Daisy board [provides additional 8 channels to the Cyton board]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OpenBCI USB Bluetooth Dongle [EEG streaming over Bluetooth]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OpenBCI EEG Electrode Cap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Header Pin to Electrode Adapter for 8 channels [x2]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Wifi Shield [EEG streaming over Wifi]</a:t>
            </a:r>
            <a:endParaRPr/>
          </a:p>
          <a:p>
            <a:pPr marL="45720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Relevant Links</a:t>
            </a:r>
            <a:endParaRPr/>
          </a:p>
        </p:txBody>
      </p:sp>
      <p:sp>
        <p:nvSpPr>
          <p:cNvPr id="66" name="Google Shape;66;p15"/>
          <p:cNvSpPr txBox="1"/>
          <p:nvPr/>
        </p:nvSpPr>
        <p:spPr>
          <a:xfrm>
            <a:off x="311700" y="1207700"/>
            <a:ext cx="8520600" cy="36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General OpenBCI Documentation Page: </a:t>
            </a:r>
            <a:r>
              <a:rPr lang="en" sz="1600" u="sng">
                <a:solidFill>
                  <a:schemeClr val="hlink"/>
                </a:solidFill>
                <a:hlinkClick r:id="rId3"/>
              </a:rPr>
              <a:t>https://docs.openbci.com/docs/</a:t>
            </a:r>
            <a:endParaRPr sz="1600"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Setting up Cyton+Daisy board with 16 channels: </a:t>
            </a:r>
            <a:r>
              <a:rPr lang="en" sz="1600" u="sng">
                <a:solidFill>
                  <a:schemeClr val="hlink"/>
                </a:solidFill>
                <a:hlinkClick r:id="rId4"/>
              </a:rPr>
              <a:t>Electrode Cap Getting Started Guide</a:t>
            </a:r>
            <a:endParaRPr sz="1600"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Setting up Cyton board with 8 channels: </a:t>
            </a:r>
            <a:r>
              <a:rPr lang="en" sz="1600" u="sng">
                <a:solidFill>
                  <a:schemeClr val="hlink"/>
                </a:solidFill>
                <a:hlinkClick r:id="rId5"/>
              </a:rPr>
              <a:t>Cyton Getting Started Guide</a:t>
            </a:r>
            <a:endParaRPr sz="1600"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OpenBCI GUI: </a:t>
            </a:r>
            <a:r>
              <a:rPr lang="en" sz="1600" u="sng">
                <a:solidFill>
                  <a:schemeClr val="hlink"/>
                </a:solidFill>
                <a:hlinkClick r:id="rId6"/>
              </a:rPr>
              <a:t>The OpenBCI GUI</a:t>
            </a:r>
            <a:endParaRPr sz="1600"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Streaming EEG data over Wifi using Wifi Shield: </a:t>
            </a:r>
            <a:r>
              <a:rPr lang="en" sz="1600" u="sng">
                <a:solidFill>
                  <a:schemeClr val="hlink"/>
                </a:solidFill>
                <a:hlinkClick r:id="rId7"/>
              </a:rPr>
              <a:t>WiFi Shield Getting Started Guide</a:t>
            </a:r>
            <a:endParaRPr sz="1600"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Electrode Cap Care and Cleaning Guide: </a:t>
            </a:r>
            <a:r>
              <a:rPr lang="en" sz="1600" u="sng">
                <a:solidFill>
                  <a:schemeClr val="hlink"/>
                </a:solidFill>
                <a:hlinkClick r:id="rId8"/>
              </a:rPr>
              <a:t>OpenBCI Electrode Cap Cleaning Guide</a:t>
            </a:r>
            <a:endParaRPr sz="1600"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External Triggering for Cyton board: </a:t>
            </a:r>
            <a:r>
              <a:rPr lang="en" sz="1600" u="sng">
                <a:solidFill>
                  <a:schemeClr val="hlink"/>
                </a:solidFill>
                <a:hlinkClick r:id="rId9"/>
              </a:rPr>
              <a:t>External Trigger on OpenBCI Cyton Board · OpenBCI Documentation</a:t>
            </a:r>
            <a:endParaRPr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Available Channels</a:t>
            </a:r>
            <a:endParaRPr/>
          </a:p>
        </p:txBody>
      </p:sp>
      <p:pic>
        <p:nvPicPr>
          <p:cNvPr id="72" name="Google Shape;7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48775" y="568275"/>
            <a:ext cx="4383528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6"/>
          <p:cNvSpPr txBox="1"/>
          <p:nvPr/>
        </p:nvSpPr>
        <p:spPr>
          <a:xfrm>
            <a:off x="234075" y="1398450"/>
            <a:ext cx="4214700" cy="23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24292E"/>
                </a:solidFill>
                <a:highlight>
                  <a:srgbClr val="FFFFFF"/>
                </a:highlight>
              </a:rPr>
              <a:t>These electrodes map to labels on the electrodes. Please note that the cap uses older labelling, and that </a:t>
            </a:r>
            <a:r>
              <a:rPr lang="en" sz="1600" i="1">
                <a:solidFill>
                  <a:srgbClr val="24292E"/>
                </a:solidFill>
                <a:highlight>
                  <a:srgbClr val="FFFFFF"/>
                </a:highlight>
              </a:rPr>
              <a:t>T3, T4, T5, and T6</a:t>
            </a:r>
            <a:r>
              <a:rPr lang="en" sz="1600">
                <a:solidFill>
                  <a:srgbClr val="24292E"/>
                </a:solidFill>
                <a:highlight>
                  <a:srgbClr val="FFFFFF"/>
                </a:highlight>
              </a:rPr>
              <a:t> were updated to be </a:t>
            </a:r>
            <a:r>
              <a:rPr lang="en" sz="1600" i="1">
                <a:solidFill>
                  <a:srgbClr val="24292E"/>
                </a:solidFill>
                <a:highlight>
                  <a:srgbClr val="FFFFFF"/>
                </a:highlight>
              </a:rPr>
              <a:t>T7, T8, P7, and P8</a:t>
            </a:r>
            <a:r>
              <a:rPr lang="en" sz="1600">
                <a:solidFill>
                  <a:srgbClr val="24292E"/>
                </a:solidFill>
                <a:highlight>
                  <a:srgbClr val="FFFFFF"/>
                </a:highlight>
              </a:rPr>
              <a:t>, respectively. These placements are interchangeable, and while the labels on the cap use older naming, they correspond to nodes on the diagram.</a:t>
            </a:r>
            <a:endParaRPr sz="1600"/>
          </a:p>
        </p:txBody>
      </p:sp>
      <p:sp>
        <p:nvSpPr>
          <p:cNvPr id="74" name="Google Shape;74;p16"/>
          <p:cNvSpPr txBox="1"/>
          <p:nvPr/>
        </p:nvSpPr>
        <p:spPr>
          <a:xfrm>
            <a:off x="3783300" y="4535025"/>
            <a:ext cx="5360700" cy="4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The available electrode channels are colored in </a:t>
            </a:r>
            <a:r>
              <a:rPr lang="en" sz="1600">
                <a:highlight>
                  <a:srgbClr val="FFC41E"/>
                </a:highlight>
              </a:rPr>
              <a:t>Yellow</a:t>
            </a:r>
            <a:r>
              <a:rPr lang="en" sz="1600"/>
              <a:t>.</a:t>
            </a:r>
            <a:endParaRPr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Setting up EEG Stream using Cyton Board</a:t>
            </a:r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body" idx="1"/>
          </p:nvPr>
        </p:nvSpPr>
        <p:spPr>
          <a:xfrm>
            <a:off x="311700" y="118942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Here are the steps required to stream EEG data from the Cyton (or Cyton + Daisy boards) to a Matlab script over Bluetooth.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000000"/>
                </a:solidFill>
              </a:rPr>
              <a:t>Note: If OpenBCI system is being used for a real-time streaming purpose, it is recommended to stream over Bluetooth and not over Wifi as the current Wi-Fi shield firmware has issues with latency, and also jitter in sampling rate was observed when streaming over wifi.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Setting up EEG Stream using Cyton Board</a:t>
            </a:r>
            <a:endParaRPr/>
          </a:p>
        </p:txBody>
      </p:sp>
      <p:sp>
        <p:nvSpPr>
          <p:cNvPr id="86" name="Google Shape;86;p18"/>
          <p:cNvSpPr txBox="1">
            <a:spLocks noGrp="1"/>
          </p:cNvSpPr>
          <p:nvPr>
            <p:ph type="body" idx="1"/>
          </p:nvPr>
        </p:nvSpPr>
        <p:spPr>
          <a:xfrm>
            <a:off x="311700" y="118942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Prerequisites: </a:t>
            </a:r>
            <a:endParaRPr>
              <a:solidFill>
                <a:srgbClr val="000000"/>
              </a:solidFill>
            </a:endParaRPr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AutoNum type="arabicPeriod"/>
            </a:pPr>
            <a:r>
              <a:rPr lang="en">
                <a:solidFill>
                  <a:srgbClr val="000000"/>
                </a:solidFill>
              </a:rPr>
              <a:t>Windows Powershell</a:t>
            </a:r>
            <a:endParaRPr>
              <a:solidFill>
                <a:srgbClr val="000000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AutoNum type="arabicPeriod"/>
            </a:pPr>
            <a:r>
              <a:rPr lang="en">
                <a:solidFill>
                  <a:srgbClr val="000000"/>
                </a:solidFill>
              </a:rPr>
              <a:t>py_lslstreamer.py (provided in documentation files)</a:t>
            </a:r>
            <a:endParaRPr>
              <a:solidFill>
                <a:srgbClr val="000000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AutoNum type="arabicPeriod"/>
            </a:pPr>
            <a:r>
              <a:rPr lang="en">
                <a:solidFill>
                  <a:srgbClr val="000000"/>
                </a:solidFill>
              </a:rPr>
              <a:t>Matlab LSL library or liblsl-Matlab (provided in documentation files)</a:t>
            </a:r>
            <a:br>
              <a:rPr lang="en">
                <a:solidFill>
                  <a:srgbClr val="000000"/>
                </a:solidFill>
              </a:rPr>
            </a:br>
            <a:br>
              <a:rPr lang="en">
                <a:solidFill>
                  <a:srgbClr val="000000"/>
                </a:solidFill>
              </a:rPr>
            </a:br>
            <a:r>
              <a:rPr lang="en">
                <a:solidFill>
                  <a:srgbClr val="000000"/>
                </a:solidFill>
              </a:rPr>
              <a:t>Ensure Python 3 is installed along with Numpy, pyOpenBCI and pylsl libraries. You can find the pyOpenBCI and pylsl libraries here: </a:t>
            </a:r>
            <a:br>
              <a:rPr lang="en">
                <a:solidFill>
                  <a:srgbClr val="000000"/>
                </a:solidFill>
              </a:rPr>
            </a:br>
            <a:r>
              <a:rPr lang="en" u="sng">
                <a:solidFill>
                  <a:schemeClr val="hlink"/>
                </a:solidFill>
                <a:hlinkClick r:id="rId3"/>
              </a:rPr>
              <a:t>https://pypi.org/project/pyOpenBCI/</a:t>
            </a:r>
            <a:br>
              <a:rPr lang="en">
                <a:solidFill>
                  <a:srgbClr val="000000"/>
                </a:solidFill>
              </a:rPr>
            </a:br>
            <a:r>
              <a:rPr lang="en" u="sng">
                <a:solidFill>
                  <a:schemeClr val="hlink"/>
                </a:solidFill>
                <a:hlinkClick r:id="rId4"/>
              </a:rPr>
              <a:t>https://pypi.org/project/pylsl/</a:t>
            </a:r>
            <a:endParaRPr>
              <a:solidFill>
                <a:srgbClr val="000000"/>
              </a:solidFill>
            </a:endParaRPr>
          </a:p>
          <a:p>
            <a:pPr marL="45720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</a:rPr>
              <a:t>(These libraries have other dependencies, follow installation instructions in the above URLs)</a:t>
            </a:r>
            <a:endParaRPr sz="1400">
              <a:solidFill>
                <a:srgbClr val="000000"/>
              </a:solidFill>
            </a:endParaRPr>
          </a:p>
          <a:p>
            <a:pPr marL="45720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>
              <a:solidFill>
                <a:srgbClr val="000000"/>
              </a:solidFill>
            </a:endParaRPr>
          </a:p>
          <a:p>
            <a:pPr marL="45720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br>
              <a:rPr lang="en">
                <a:solidFill>
                  <a:srgbClr val="000000"/>
                </a:solidFill>
              </a:rPr>
            </a:b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n"/>
              <a:t>Connect the HPTA cables to the Board</a:t>
            </a:r>
            <a:endParaRPr/>
          </a:p>
        </p:txBody>
      </p:sp>
      <p:sp>
        <p:nvSpPr>
          <p:cNvPr id="92" name="Google Shape;92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Connect the HPTA cables to the Cyton board.</a:t>
            </a:r>
            <a:endParaRPr>
              <a:solidFill>
                <a:srgbClr val="000000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In sequence (from first colored cable to last), connect the chosen electrode cables of the cap to the HPTA cables of the board.</a:t>
            </a:r>
            <a:endParaRPr>
              <a:solidFill>
                <a:srgbClr val="000000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Ensure the ground and reference electrode cables are connected to the board.</a:t>
            </a:r>
            <a:endParaRPr>
              <a:solidFill>
                <a:srgbClr val="000000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You may set the subject up with the electrode cap and apply electrode gel to the chosen channels now.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Power the Board and Connect the Dongle</a:t>
            </a:r>
            <a:endParaRPr/>
          </a:p>
        </p:txBody>
      </p:sp>
      <p:sp>
        <p:nvSpPr>
          <p:cNvPr id="98" name="Google Shape;98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5554200" cy="353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Toggle the switch in the USB Dongle to “GPIO 6” (Not Reset).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Plug the USB Dongle to the PC at the COM4 Port (facing upwards!) and you should see a blue LED light up and stay on, as well as a Red LED blink.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Connect the battery pack (4x AA cells) to the board (battery connector is placed on the back of the board). 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Toggle the switch on the board which is in OFF mode to PC (Not BLE).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99" name="Google Shape;9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18300" y="1017725"/>
            <a:ext cx="2973299" cy="2229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Start LSL Stream</a:t>
            </a:r>
            <a:endParaRPr/>
          </a:p>
        </p:txBody>
      </p:sp>
      <p:sp>
        <p:nvSpPr>
          <p:cNvPr id="105" name="Google Shape;105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Open Windows Powershell and move to the directory where py_lslstreamer.py file is present.</a:t>
            </a:r>
            <a:endParaRPr>
              <a:solidFill>
                <a:srgbClr val="000000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Run the py_lslstreamer.py file</a:t>
            </a:r>
            <a:endParaRPr>
              <a:solidFill>
                <a:srgbClr val="000000"/>
              </a:solidFill>
            </a:endParaRPr>
          </a:p>
          <a:p>
            <a:pPr marL="45720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$ python ./py_lslstreamer.py</a:t>
            </a:r>
            <a:endParaRPr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Let this Powershell instance be running. Now the Python file is reading the data from the COM4 port and streaming it. </a:t>
            </a:r>
            <a:endParaRPr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 txBox="1">
            <a:spLocks noGrp="1"/>
          </p:cNvSpPr>
          <p:nvPr>
            <p:ph type="body" idx="1"/>
          </p:nvPr>
        </p:nvSpPr>
        <p:spPr>
          <a:xfrm>
            <a:off x="596050" y="79675"/>
            <a:ext cx="8194800" cy="52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000000"/>
                </a:solidFill>
              </a:rPr>
              <a:t>(For reference) Here is the code from the py_lslstreamer.py file </a:t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111" name="Google Shape;11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0775" y="885700"/>
            <a:ext cx="7429500" cy="3648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 Setup Matlab script to receive the EEG data</a:t>
            </a:r>
            <a:endParaRPr/>
          </a:p>
        </p:txBody>
      </p:sp>
      <p:sp>
        <p:nvSpPr>
          <p:cNvPr id="117" name="Google Shape;117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In a Matlab script, load the liblsl-Matlab and all of its subfolders into the workspace.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The following code is used to receive the EEG data from the LSL stream.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4450" y="158238"/>
            <a:ext cx="5155100" cy="404407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4"/>
          <p:cNvSpPr txBox="1"/>
          <p:nvPr/>
        </p:nvSpPr>
        <p:spPr>
          <a:xfrm>
            <a:off x="197175" y="4374825"/>
            <a:ext cx="8872800" cy="8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Where maxBuffferTime = 1.0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inlet buffers samples for `maxBufferTime` seconds before clearing ie `maxBufferTime * Fs` no. of samples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790</Words>
  <Application>Microsoft Office PowerPoint</Application>
  <PresentationFormat>On-screen Show (16:9)</PresentationFormat>
  <Paragraphs>56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Courier New</vt:lpstr>
      <vt:lpstr>Simple Light</vt:lpstr>
      <vt:lpstr>OpenBCI System  [Usage Instructions]</vt:lpstr>
      <vt:lpstr>Available Components</vt:lpstr>
      <vt:lpstr>Relevant Links</vt:lpstr>
      <vt:lpstr>Available Channels</vt:lpstr>
      <vt:lpstr>Setting up EEG Stream using Cyton Board</vt:lpstr>
      <vt:lpstr>Setting up EEG Stream using Cyton Board</vt:lpstr>
      <vt:lpstr>Connect the HPTA cables to the Board</vt:lpstr>
      <vt:lpstr>2. Power the Board and Connect the Dongle</vt:lpstr>
      <vt:lpstr>3. Start LSL Stream</vt:lpstr>
      <vt:lpstr>PowerPoint Presentation</vt:lpstr>
      <vt:lpstr>4. Setup Matlab script to receive the EEG data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Dhruv Tharun Krishna</cp:lastModifiedBy>
  <cp:revision>1</cp:revision>
  <dcterms:modified xsi:type="dcterms:W3CDTF">2026-01-15T19:32:44Z</dcterms:modified>
</cp:coreProperties>
</file>