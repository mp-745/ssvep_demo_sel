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65" r:id="rId6"/>
    <p:sldId id="259" r:id="rId7"/>
    <p:sldId id="260" r:id="rId8"/>
    <p:sldId id="266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C40EBC-FA69-4D8E-9029-DD7B67B125EE}" v="6" dt="2026-03-26T14:49:36.961"/>
    <p1510:client id="{3D820C95-5868-42EF-8016-6F88E87F9125}" v="28" dt="2026-03-26T14:30:48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492" autoAdjust="0"/>
  </p:normalViewPr>
  <p:slideViewPr>
    <p:cSldViewPr snapToGrid="0" snapToObjects="1">
      <p:cViewPr>
        <p:scale>
          <a:sx n="61" d="100"/>
          <a:sy n="61" d="100"/>
        </p:scale>
        <p:origin x="1833" y="3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30" y="-1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 Porter" userId="d2ee64f64fc2b2a3" providerId="LiveId" clId="{751CC3EB-2E41-476B-B13E-2F1AFD56CBB7}"/>
    <pc:docChg chg="undo custSel modSld">
      <pc:chgData name="Max Porter" userId="d2ee64f64fc2b2a3" providerId="LiveId" clId="{751CC3EB-2E41-476B-B13E-2F1AFD56CBB7}" dt="2026-03-26T14:50:39.977" v="565" actId="207"/>
      <pc:docMkLst>
        <pc:docMk/>
      </pc:docMkLst>
      <pc:sldChg chg="delSp modSp mod">
        <pc:chgData name="Max Porter" userId="d2ee64f64fc2b2a3" providerId="LiveId" clId="{751CC3EB-2E41-476B-B13E-2F1AFD56CBB7}" dt="2026-03-26T14:41:44.491" v="68"/>
        <pc:sldMkLst>
          <pc:docMk/>
          <pc:sldMk cId="0" sldId="256"/>
        </pc:sldMkLst>
        <pc:spChg chg="mod">
          <ac:chgData name="Max Porter" userId="d2ee64f64fc2b2a3" providerId="LiveId" clId="{751CC3EB-2E41-476B-B13E-2F1AFD56CBB7}" dt="2026-03-26T14:40:40.557" v="27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ax Porter" userId="d2ee64f64fc2b2a3" providerId="LiveId" clId="{751CC3EB-2E41-476B-B13E-2F1AFD56CBB7}" dt="2026-03-26T14:41:44.491" v="68"/>
          <ac:spMkLst>
            <pc:docMk/>
            <pc:sldMk cId="0" sldId="256"/>
            <ac:spMk id="4" creationId="{00000000-0000-0000-0000-000000000000}"/>
          </ac:spMkLst>
        </pc:spChg>
        <pc:spChg chg="del">
          <ac:chgData name="Max Porter" userId="d2ee64f64fc2b2a3" providerId="LiveId" clId="{751CC3EB-2E41-476B-B13E-2F1AFD56CBB7}" dt="2026-03-26T14:40:33.199" v="16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x Porter" userId="d2ee64f64fc2b2a3" providerId="LiveId" clId="{751CC3EB-2E41-476B-B13E-2F1AFD56CBB7}" dt="2026-03-26T14:40:36.056" v="17" actId="1076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Max Porter" userId="d2ee64f64fc2b2a3" providerId="LiveId" clId="{751CC3EB-2E41-476B-B13E-2F1AFD56CBB7}" dt="2026-03-26T14:50:39.977" v="565" actId="207"/>
        <pc:sldMkLst>
          <pc:docMk/>
          <pc:sldMk cId="0" sldId="257"/>
        </pc:sldMkLst>
        <pc:spChg chg="mod">
          <ac:chgData name="Max Porter" userId="d2ee64f64fc2b2a3" providerId="LiveId" clId="{751CC3EB-2E41-476B-B13E-2F1AFD56CBB7}" dt="2026-03-26T14:40:29.499" v="15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Max Porter" userId="d2ee64f64fc2b2a3" providerId="LiveId" clId="{751CC3EB-2E41-476B-B13E-2F1AFD56CBB7}" dt="2026-03-26T14:50:19.965" v="560" actId="207"/>
          <ac:spMkLst>
            <pc:docMk/>
            <pc:sldMk cId="0" sldId="257"/>
            <ac:spMk id="4" creationId="{00000000-0000-0000-0000-000000000000}"/>
          </ac:spMkLst>
        </pc:spChg>
        <pc:spChg chg="mod">
          <ac:chgData name="Max Porter" userId="d2ee64f64fc2b2a3" providerId="LiveId" clId="{751CC3EB-2E41-476B-B13E-2F1AFD56CBB7}" dt="2026-03-26T14:50:23.605" v="561" actId="207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x Porter" userId="d2ee64f64fc2b2a3" providerId="LiveId" clId="{751CC3EB-2E41-476B-B13E-2F1AFD56CBB7}" dt="2026-03-26T14:50:29.819" v="562" actId="207"/>
          <ac:spMkLst>
            <pc:docMk/>
            <pc:sldMk cId="0" sldId="257"/>
            <ac:spMk id="7" creationId="{00000000-0000-0000-0000-000000000000}"/>
          </ac:spMkLst>
        </pc:spChg>
        <pc:spChg chg="mod">
          <ac:chgData name="Max Porter" userId="d2ee64f64fc2b2a3" providerId="LiveId" clId="{751CC3EB-2E41-476B-B13E-2F1AFD56CBB7}" dt="2026-03-26T14:50:39.977" v="565" actId="207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Max Porter" userId="d2ee64f64fc2b2a3" providerId="LiveId" clId="{751CC3EB-2E41-476B-B13E-2F1AFD56CBB7}" dt="2026-03-26T14:43:49.849" v="247" actId="20577"/>
        <pc:sldMkLst>
          <pc:docMk/>
          <pc:sldMk cId="0" sldId="258"/>
        </pc:sldMkLst>
        <pc:spChg chg="mod">
          <ac:chgData name="Max Porter" userId="d2ee64f64fc2b2a3" providerId="LiveId" clId="{751CC3EB-2E41-476B-B13E-2F1AFD56CBB7}" dt="2026-03-26T14:40:17.541" v="13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Max Porter" userId="d2ee64f64fc2b2a3" providerId="LiveId" clId="{751CC3EB-2E41-476B-B13E-2F1AFD56CBB7}" dt="2026-03-26T14:43:49.849" v="247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Max Porter" userId="d2ee64f64fc2b2a3" providerId="LiveId" clId="{751CC3EB-2E41-476B-B13E-2F1AFD56CBB7}" dt="2026-03-26T14:44:23.724" v="284" actId="20577"/>
        <pc:sldMkLst>
          <pc:docMk/>
          <pc:sldMk cId="0" sldId="260"/>
        </pc:sldMkLst>
        <pc:spChg chg="mod">
          <ac:chgData name="Max Porter" userId="d2ee64f64fc2b2a3" providerId="LiveId" clId="{751CC3EB-2E41-476B-B13E-2F1AFD56CBB7}" dt="2026-03-26T14:40:03.965" v="11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Max Porter" userId="d2ee64f64fc2b2a3" providerId="LiveId" clId="{751CC3EB-2E41-476B-B13E-2F1AFD56CBB7}" dt="2026-03-26T14:44:23.724" v="284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Max Porter" userId="d2ee64f64fc2b2a3" providerId="LiveId" clId="{751CC3EB-2E41-476B-B13E-2F1AFD56CBB7}" dt="2026-03-26T14:46:45.563" v="500" actId="20577"/>
        <pc:sldMkLst>
          <pc:docMk/>
          <pc:sldMk cId="0" sldId="262"/>
        </pc:sldMkLst>
        <pc:spChg chg="mod">
          <ac:chgData name="Max Porter" userId="d2ee64f64fc2b2a3" providerId="LiveId" clId="{751CC3EB-2E41-476B-B13E-2F1AFD56CBB7}" dt="2026-03-26T14:46:02.341" v="377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Max Porter" userId="d2ee64f64fc2b2a3" providerId="LiveId" clId="{751CC3EB-2E41-476B-B13E-2F1AFD56CBB7}" dt="2026-03-26T14:46:45.563" v="500" actId="20577"/>
          <ac:spMkLst>
            <pc:docMk/>
            <pc:sldMk cId="0" sldId="262"/>
            <ac:spMk id="15" creationId="{00000000-0000-0000-0000-000000000000}"/>
          </ac:spMkLst>
        </pc:spChg>
      </pc:sldChg>
      <pc:sldChg chg="modSp mod">
        <pc:chgData name="Max Porter" userId="d2ee64f64fc2b2a3" providerId="LiveId" clId="{751CC3EB-2E41-476B-B13E-2F1AFD56CBB7}" dt="2026-03-26T14:40:23.865" v="14" actId="207"/>
        <pc:sldMkLst>
          <pc:docMk/>
          <pc:sldMk cId="1841808047" sldId="264"/>
        </pc:sldMkLst>
        <pc:spChg chg="mod">
          <ac:chgData name="Max Porter" userId="d2ee64f64fc2b2a3" providerId="LiveId" clId="{751CC3EB-2E41-476B-B13E-2F1AFD56CBB7}" dt="2026-03-26T14:40:23.865" v="14" actId="207"/>
          <ac:spMkLst>
            <pc:docMk/>
            <pc:sldMk cId="1841808047" sldId="264"/>
            <ac:spMk id="3" creationId="{38215724-A63B-1C75-0DBB-B5CA046DEB1E}"/>
          </ac:spMkLst>
        </pc:spChg>
      </pc:sldChg>
      <pc:sldChg chg="modSp mod">
        <pc:chgData name="Max Porter" userId="d2ee64f64fc2b2a3" providerId="LiveId" clId="{751CC3EB-2E41-476B-B13E-2F1AFD56CBB7}" dt="2026-03-26T14:40:10.829" v="12" actId="207"/>
        <pc:sldMkLst>
          <pc:docMk/>
          <pc:sldMk cId="3800151075" sldId="265"/>
        </pc:sldMkLst>
        <pc:spChg chg="mod">
          <ac:chgData name="Max Porter" userId="d2ee64f64fc2b2a3" providerId="LiveId" clId="{751CC3EB-2E41-476B-B13E-2F1AFD56CBB7}" dt="2026-03-26T14:40:10.829" v="12" actId="207"/>
          <ac:spMkLst>
            <pc:docMk/>
            <pc:sldMk cId="3800151075" sldId="265"/>
            <ac:spMk id="3" creationId="{DC6461FC-9D09-A8C5-E144-ABABB0B9BC87}"/>
          </ac:spMkLst>
        </pc:spChg>
      </pc:sldChg>
      <pc:sldChg chg="addSp delSp modSp mod">
        <pc:chgData name="Max Porter" userId="d2ee64f64fc2b2a3" providerId="LiveId" clId="{751CC3EB-2E41-476B-B13E-2F1AFD56CBB7}" dt="2026-03-26T14:49:50.361" v="559" actId="207"/>
        <pc:sldMkLst>
          <pc:docMk/>
          <pc:sldMk cId="0" sldId="266"/>
        </pc:sldMkLst>
        <pc:spChg chg="mod">
          <ac:chgData name="Max Porter" userId="d2ee64f64fc2b2a3" providerId="LiveId" clId="{751CC3EB-2E41-476B-B13E-2F1AFD56CBB7}" dt="2026-03-26T14:47:47.348" v="553"/>
          <ac:spMkLst>
            <pc:docMk/>
            <pc:sldMk cId="0" sldId="266"/>
            <ac:spMk id="4" creationId="{00000000-0000-0000-0000-000000000000}"/>
          </ac:spMkLst>
        </pc:spChg>
        <pc:spChg chg="del">
          <ac:chgData name="Max Porter" userId="d2ee64f64fc2b2a3" providerId="LiveId" clId="{751CC3EB-2E41-476B-B13E-2F1AFD56CBB7}" dt="2026-03-26T14:39:30.529" v="0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Max Porter" userId="d2ee64f64fc2b2a3" providerId="LiveId" clId="{751CC3EB-2E41-476B-B13E-2F1AFD56CBB7}" dt="2026-03-26T14:39:32.655" v="1" actId="478"/>
          <ac:spMkLst>
            <pc:docMk/>
            <pc:sldMk cId="0" sldId="266"/>
            <ac:spMk id="6" creationId="{00000000-0000-0000-0000-000000000000}"/>
          </ac:spMkLst>
        </pc:spChg>
        <pc:spChg chg="add del mod">
          <ac:chgData name="Max Porter" userId="d2ee64f64fc2b2a3" providerId="LiveId" clId="{751CC3EB-2E41-476B-B13E-2F1AFD56CBB7}" dt="2026-03-26T14:45:45.998" v="374" actId="403"/>
          <ac:spMkLst>
            <pc:docMk/>
            <pc:sldMk cId="0" sldId="266"/>
            <ac:spMk id="7" creationId="{00000000-0000-0000-0000-000000000000}"/>
          </ac:spMkLst>
        </pc:spChg>
        <pc:spChg chg="add del mod">
          <ac:chgData name="Max Porter" userId="d2ee64f64fc2b2a3" providerId="LiveId" clId="{751CC3EB-2E41-476B-B13E-2F1AFD56CBB7}" dt="2026-03-26T14:49:46.267" v="558" actId="207"/>
          <ac:spMkLst>
            <pc:docMk/>
            <pc:sldMk cId="0" sldId="266"/>
            <ac:spMk id="8" creationId="{00000000-0000-0000-0000-000000000000}"/>
          </ac:spMkLst>
        </pc:spChg>
        <pc:spChg chg="mod">
          <ac:chgData name="Max Porter" userId="d2ee64f64fc2b2a3" providerId="LiveId" clId="{751CC3EB-2E41-476B-B13E-2F1AFD56CBB7}" dt="2026-03-26T14:45:45.998" v="374" actId="403"/>
          <ac:spMkLst>
            <pc:docMk/>
            <pc:sldMk cId="0" sldId="266"/>
            <ac:spMk id="9" creationId="{00000000-0000-0000-0000-000000000000}"/>
          </ac:spMkLst>
        </pc:spChg>
        <pc:spChg chg="del">
          <ac:chgData name="Max Porter" userId="d2ee64f64fc2b2a3" providerId="LiveId" clId="{751CC3EB-2E41-476B-B13E-2F1AFD56CBB7}" dt="2026-03-26T14:39:34.379" v="2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Max Porter" userId="d2ee64f64fc2b2a3" providerId="LiveId" clId="{751CC3EB-2E41-476B-B13E-2F1AFD56CBB7}" dt="2026-03-26T14:39:36.177" v="3" actId="478"/>
          <ac:spMkLst>
            <pc:docMk/>
            <pc:sldMk cId="0" sldId="266"/>
            <ac:spMk id="11" creationId="{00000000-0000-0000-0000-000000000000}"/>
          </ac:spMkLst>
        </pc:spChg>
        <pc:spChg chg="mod">
          <ac:chgData name="Max Porter" userId="d2ee64f64fc2b2a3" providerId="LiveId" clId="{751CC3EB-2E41-476B-B13E-2F1AFD56CBB7}" dt="2026-03-26T14:45:45.998" v="374" actId="403"/>
          <ac:spMkLst>
            <pc:docMk/>
            <pc:sldMk cId="0" sldId="266"/>
            <ac:spMk id="12" creationId="{00000000-0000-0000-0000-000000000000}"/>
          </ac:spMkLst>
        </pc:spChg>
        <pc:spChg chg="mod">
          <ac:chgData name="Max Porter" userId="d2ee64f64fc2b2a3" providerId="LiveId" clId="{751CC3EB-2E41-476B-B13E-2F1AFD56CBB7}" dt="2026-03-26T14:49:50.361" v="559" actId="207"/>
          <ac:spMkLst>
            <pc:docMk/>
            <pc:sldMk cId="0" sldId="266"/>
            <ac:spMk id="13" creationId="{00000000-0000-0000-0000-000000000000}"/>
          </ac:spMkLst>
        </pc:spChg>
        <pc:spChg chg="del">
          <ac:chgData name="Max Porter" userId="d2ee64f64fc2b2a3" providerId="LiveId" clId="{751CC3EB-2E41-476B-B13E-2F1AFD56CBB7}" dt="2026-03-26T14:39:39.176" v="4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Max Porter" userId="d2ee64f64fc2b2a3" providerId="LiveId" clId="{751CC3EB-2E41-476B-B13E-2F1AFD56CBB7}" dt="2026-03-26T14:39:40.304" v="5" actId="478"/>
          <ac:spMkLst>
            <pc:docMk/>
            <pc:sldMk cId="0" sldId="266"/>
            <ac:spMk id="15" creationId="{00000000-0000-0000-0000-000000000000}"/>
          </ac:spMkLst>
        </pc:spChg>
        <pc:spChg chg="del">
          <ac:chgData name="Max Porter" userId="d2ee64f64fc2b2a3" providerId="LiveId" clId="{751CC3EB-2E41-476B-B13E-2F1AFD56CBB7}" dt="2026-03-26T14:45:51.306" v="375" actId="478"/>
          <ac:spMkLst>
            <pc:docMk/>
            <pc:sldMk cId="0" sldId="266"/>
            <ac:spMk id="16" creationId="{00000000-0000-0000-0000-000000000000}"/>
          </ac:spMkLst>
        </pc:spChg>
        <pc:spChg chg="del">
          <ac:chgData name="Max Porter" userId="d2ee64f64fc2b2a3" providerId="LiveId" clId="{751CC3EB-2E41-476B-B13E-2F1AFD56CBB7}" dt="2026-03-26T14:45:52.801" v="376" actId="478"/>
          <ac:spMkLst>
            <pc:docMk/>
            <pc:sldMk cId="0" sldId="266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587DE-9B9E-4A7E-B301-47BE4FE5594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D8480-0021-43F9-A509-A259F9D64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874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D8480-0021-43F9-A509-A259F9D6413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69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SVM is a machine learning classifier which finds the best "dividing line" (or surface, in higher dimensions) between two groups of data points.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It picks the line that sits as far as possible from the nearest points of each group → those nearest points are the "support vectors.“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If the data isn't cleanly separable with a straight line, it uses a trick (kernel function) to project the data into a higher dimension where a clean split becomes possible.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D8480-0021-43F9-A509-A259F9D6413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718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4CFED-FA48-BC5E-4A8D-C61239F6A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83AA5-E3EE-8B00-CBD1-5F12DC203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E5450-F1F6-9A86-2311-6FA91D3BB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SVM is a machine learning classifier which finds the best "dividing line" (or surface, in higher dimensions) between two groups of data points.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It picks the line that sits as far as possible from the nearest points of each group → those nearest points are the "support vectors.“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If the data isn't cleanly separable with a straight line, it uses a trick (kernel function) to project the data into a higher dimension where a clean split becomes possible.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7D87A-DDDE-A76C-CDD0-252741F95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D8480-0021-43F9-A509-A259F9D6413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876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_Pictur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298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645920"/>
            <a:ext cx="85039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1E293B"/>
                </a:solidFill>
                <a:latin typeface="Calibri"/>
              </a:defRPr>
            </a:pPr>
            <a:r>
              <a:rPr dirty="0">
                <a:solidFill/>
              </a:rPr>
              <a:t>SSVEP BCI System</a:t>
            </a:r>
            <a:r>
              <a:rPr lang="en-GB" dirty="0">
                <a:solidFill/>
              </a:rPr>
              <a:t> in MATLAB</a:t>
            </a:r>
            <a:endParaRPr dirty="0">
              <a:solidFill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2468880"/>
            <a:ext cx="8503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1E293B"/>
                </a:solidFill>
                <a:latin typeface="Calibri"/>
              </a:defRPr>
            </a:pPr>
            <a:r>
              <a:rPr lang="en-GB" dirty="0">
                <a:solidFill/>
              </a:rPr>
              <a:t>The BCI with SSVEPs we used for the </a:t>
            </a:r>
            <a:r>
              <a:rPr lang="en-GB" sz="2000" dirty="0" err="1"/>
              <a:t>Neurovision</a:t>
            </a:r>
            <a:r>
              <a:rPr lang="en-GB" sz="2000" dirty="0"/>
              <a:t> Hackathon</a:t>
            </a:r>
            <a:endParaRPr dirty="0">
              <a:solidFill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2926080"/>
            <a:ext cx="8503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7280"/>
                </a:solidFill>
                <a:latin typeface="Calibri"/>
              </a:defRPr>
            </a:pPr>
            <a:r>
              <a:rPr lang="en-GB" dirty="0">
                <a:solidFill/>
              </a:rPr>
              <a:t>A Quick</a:t>
            </a:r>
            <a:r>
              <a:rPr dirty="0">
                <a:solidFill/>
              </a:rPr>
              <a:t> Overview &amp; </a:t>
            </a:r>
            <a:r>
              <a:rPr lang="en-GB" dirty="0">
                <a:solidFill/>
              </a:rPr>
              <a:t>Where we are at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1. </a:t>
            </a:r>
            <a:r>
              <a:rPr lang="en-GB" dirty="0">
                <a:solidFill>
                  <a:schemeClr val="tx2"/>
                </a:solidFill>
              </a:rPr>
              <a:t>What does it look like?</a:t>
            </a:r>
          </a:p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>
                <a:solidFill>
                  <a:schemeClr val="tx2"/>
                </a:solidFill>
              </a:rPr>
              <a:t>2. </a:t>
            </a:r>
            <a:r>
              <a:rPr dirty="0">
                <a:solidFill>
                  <a:schemeClr val="tx2"/>
                </a:solidFill>
              </a:rPr>
              <a:t>What </a:t>
            </a:r>
            <a:r>
              <a:rPr lang="en-GB" dirty="0">
                <a:solidFill>
                  <a:schemeClr val="tx2"/>
                </a:solidFill>
              </a:rPr>
              <a:t>The </a:t>
            </a:r>
            <a:r>
              <a:rPr dirty="0">
                <a:solidFill>
                  <a:schemeClr val="tx2"/>
                </a:solidFill>
              </a:rPr>
              <a:t>System Does</a:t>
            </a:r>
            <a:endParaRPr lang="en-GB" dirty="0">
              <a:solidFill>
                <a:schemeClr val="tx2"/>
              </a:solidFill>
            </a:endParaRPr>
          </a:p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>
                <a:solidFill>
                  <a:schemeClr val="tx2"/>
                </a:solidFill>
              </a:rPr>
              <a:t>	How does it do it?</a:t>
            </a:r>
          </a:p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>
                <a:solidFill>
                  <a:schemeClr val="tx2"/>
                </a:solidFill>
              </a:rPr>
              <a:t>	Potential Optimisations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545332"/>
            <a:ext cx="8046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>
                <a:solidFill>
                  <a:schemeClr val="tx2"/>
                </a:solidFill>
              </a:rPr>
              <a:t>3</a:t>
            </a:r>
            <a:r>
              <a:rPr dirty="0">
                <a:solidFill>
                  <a:schemeClr val="tx2"/>
                </a:solidFill>
              </a:rPr>
              <a:t>. 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0253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Folder Layout</a:t>
            </a:r>
            <a:br>
              <a:rPr dirty="0">
                <a:solidFill>
                  <a:schemeClr val="tx2"/>
                </a:solidFill>
              </a:rPr>
            </a:br>
            <a:r>
              <a:rPr dirty="0">
                <a:solidFill>
                  <a:schemeClr val="tx2"/>
                </a:solidFill>
              </a:rPr>
              <a:t>Key Entry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42612"/>
            <a:ext cx="8046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>
                <a:solidFill>
                  <a:schemeClr val="tx2"/>
                </a:solidFill>
              </a:rPr>
              <a:t>4</a:t>
            </a:r>
            <a:r>
              <a:rPr dirty="0">
                <a:solidFill>
                  <a:schemeClr val="tx2"/>
                </a:solidFill>
              </a:rPr>
              <a:t>. How to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38958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5. Frequency Change: Why 15/20 Hz</a:t>
            </a:r>
          </a:p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6. Known Issues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DCA94-DF35-5873-A81B-D3023AAD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>
            <a:extLst>
              <a:ext uri="{FF2B5EF4-FFF2-40B4-BE49-F238E27FC236}">
                <a16:creationId xmlns:a16="http://schemas.microsoft.com/office/drawing/2014/main" id="{1C18A9BB-402D-29A5-F750-55F4A4B86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215724-A63B-1C75-0DBB-B5CA046DEB1E}"/>
              </a:ext>
            </a:extLst>
          </p:cNvPr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What </a:t>
            </a:r>
            <a:r>
              <a:rPr lang="en-GB" dirty="0">
                <a:solidFill>
                  <a:schemeClr val="bg1"/>
                </a:solidFill>
              </a:rPr>
              <a:t>Does it Look Like When it is run?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8181417-4C45-7927-3286-99FF2320D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283" y="1190485"/>
            <a:ext cx="5464983" cy="49813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65E9CEB-F99D-A30D-A6E0-5C798412F333}"/>
              </a:ext>
            </a:extLst>
          </p:cNvPr>
          <p:cNvSpPr txBox="1"/>
          <p:nvPr/>
        </p:nvSpPr>
        <p:spPr>
          <a:xfrm>
            <a:off x="264543" y="615759"/>
            <a:ext cx="4974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Example presentation of our BCI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11DA1-D1AC-FBCB-AAEA-14F6481C3595}"/>
              </a:ext>
            </a:extLst>
          </p:cNvPr>
          <p:cNvSpPr txBox="1"/>
          <p:nvPr/>
        </p:nvSpPr>
        <p:spPr>
          <a:xfrm>
            <a:off x="593969" y="6275754"/>
            <a:ext cx="769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tx2"/>
                </a:solidFill>
              </a:rPr>
              <a:t>I’ll show the live version after I’m done here</a:t>
            </a:r>
          </a:p>
        </p:txBody>
      </p:sp>
    </p:spTree>
    <p:extLst>
      <p:ext uri="{BB962C8B-B14F-4D97-AF65-F5344CB8AC3E}">
        <p14:creationId xmlns:p14="http://schemas.microsoft.com/office/powerpoint/2010/main" val="1841808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What This System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52" y="1004876"/>
            <a:ext cx="812594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sz="1900" b="1" dirty="0">
                <a:solidFill>
                  <a:schemeClr val="tx2"/>
                </a:solidFill>
              </a:rPr>
              <a:t>A </a:t>
            </a:r>
            <a:r>
              <a:rPr lang="en-GB" sz="1900" b="1" dirty="0">
                <a:solidFill>
                  <a:schemeClr val="tx2"/>
                </a:solidFill>
              </a:rPr>
              <a:t>R</a:t>
            </a:r>
            <a:r>
              <a:rPr sz="1900" b="1" dirty="0" err="1">
                <a:solidFill>
                  <a:schemeClr val="tx2"/>
                </a:solidFill>
              </a:rPr>
              <a:t>eal</a:t>
            </a:r>
            <a:r>
              <a:rPr sz="1900" b="1" dirty="0">
                <a:solidFill>
                  <a:schemeClr val="tx2"/>
                </a:solidFill>
              </a:rPr>
              <a:t>-</a:t>
            </a:r>
            <a:r>
              <a:rPr lang="en-GB" sz="1900" b="1" dirty="0">
                <a:solidFill>
                  <a:schemeClr val="tx2"/>
                </a:solidFill>
              </a:rPr>
              <a:t>T</a:t>
            </a:r>
            <a:r>
              <a:rPr sz="1900" b="1" dirty="0" err="1">
                <a:solidFill>
                  <a:schemeClr val="tx2"/>
                </a:solidFill>
              </a:rPr>
              <a:t>ime</a:t>
            </a:r>
            <a:r>
              <a:rPr sz="1900" b="1" dirty="0">
                <a:solidFill>
                  <a:schemeClr val="tx2"/>
                </a:solidFill>
              </a:rPr>
              <a:t> BCI </a:t>
            </a:r>
            <a:r>
              <a:rPr lang="en-GB" sz="1900" b="1" dirty="0">
                <a:solidFill>
                  <a:schemeClr val="tx2"/>
                </a:solidFill>
              </a:rPr>
              <a:t>T</a:t>
            </a:r>
            <a:r>
              <a:rPr sz="1900" b="1" dirty="0">
                <a:solidFill>
                  <a:schemeClr val="tx2"/>
                </a:solidFill>
              </a:rPr>
              <a:t>hat lets </a:t>
            </a:r>
            <a:r>
              <a:rPr lang="en-GB" sz="1900" b="1" dirty="0">
                <a:solidFill>
                  <a:schemeClr val="tx2"/>
                </a:solidFill>
              </a:rPr>
              <a:t>U</a:t>
            </a:r>
            <a:r>
              <a:rPr sz="1900" b="1" dirty="0" err="1">
                <a:solidFill>
                  <a:schemeClr val="tx2"/>
                </a:solidFill>
              </a:rPr>
              <a:t>sers</a:t>
            </a:r>
            <a:r>
              <a:rPr sz="1900" b="1" dirty="0">
                <a:solidFill>
                  <a:schemeClr val="tx2"/>
                </a:solidFill>
              </a:rPr>
              <a:t> </a:t>
            </a:r>
            <a:r>
              <a:rPr lang="en-GB" sz="1900" b="1" dirty="0">
                <a:solidFill>
                  <a:schemeClr val="tx2"/>
                </a:solidFill>
              </a:rPr>
              <a:t>C</a:t>
            </a:r>
            <a:r>
              <a:rPr sz="1900" b="1" dirty="0" err="1">
                <a:solidFill>
                  <a:schemeClr val="tx2"/>
                </a:solidFill>
              </a:rPr>
              <a:t>ontrol</a:t>
            </a:r>
            <a:r>
              <a:rPr sz="1900" b="1" dirty="0">
                <a:solidFill>
                  <a:schemeClr val="tx2"/>
                </a:solidFill>
              </a:rPr>
              <a:t> on-screen </a:t>
            </a:r>
            <a:r>
              <a:rPr lang="en-GB" sz="1900" b="1" dirty="0">
                <a:solidFill>
                  <a:schemeClr val="tx2"/>
                </a:solidFill>
              </a:rPr>
              <a:t>E</a:t>
            </a:r>
            <a:r>
              <a:rPr sz="1900" b="1" dirty="0" err="1">
                <a:solidFill>
                  <a:schemeClr val="tx2"/>
                </a:solidFill>
              </a:rPr>
              <a:t>lements</a:t>
            </a:r>
            <a:r>
              <a:rPr sz="1900" b="1" dirty="0">
                <a:solidFill>
                  <a:schemeClr val="tx2"/>
                </a:solidFill>
              </a:rPr>
              <a:t> by </a:t>
            </a:r>
            <a:r>
              <a:rPr lang="en-GB" sz="1900" b="1" dirty="0">
                <a:solidFill>
                  <a:schemeClr val="tx2"/>
                </a:solidFill>
              </a:rPr>
              <a:t>L</a:t>
            </a:r>
            <a:r>
              <a:rPr sz="1900" b="1" dirty="0" err="1">
                <a:solidFill>
                  <a:schemeClr val="tx2"/>
                </a:solidFill>
              </a:rPr>
              <a:t>ooking</a:t>
            </a:r>
            <a:r>
              <a:rPr sz="1900" b="1" dirty="0">
                <a:solidFill>
                  <a:schemeClr val="tx2"/>
                </a:solidFill>
              </a:rPr>
              <a:t> at </a:t>
            </a:r>
            <a:r>
              <a:rPr lang="en-GB" sz="1900" b="1" dirty="0">
                <a:solidFill>
                  <a:schemeClr val="tx2"/>
                </a:solidFill>
              </a:rPr>
              <a:t>F</a:t>
            </a:r>
            <a:r>
              <a:rPr sz="1900" b="1" dirty="0" err="1">
                <a:solidFill>
                  <a:schemeClr val="tx2"/>
                </a:solidFill>
              </a:rPr>
              <a:t>lickering</a:t>
            </a:r>
            <a:r>
              <a:rPr sz="1900" b="1" dirty="0">
                <a:solidFill>
                  <a:schemeClr val="tx2"/>
                </a:solidFill>
              </a:rPr>
              <a:t> </a:t>
            </a:r>
            <a:r>
              <a:rPr lang="en-GB" sz="1900" b="1" dirty="0">
                <a:solidFill>
                  <a:schemeClr val="tx2"/>
                </a:solidFill>
              </a:rPr>
              <a:t>V</a:t>
            </a:r>
            <a:r>
              <a:rPr sz="1900" b="1" dirty="0" err="1">
                <a:solidFill>
                  <a:schemeClr val="tx2"/>
                </a:solidFill>
              </a:rPr>
              <a:t>isual</a:t>
            </a:r>
            <a:r>
              <a:rPr sz="1900" b="1" dirty="0">
                <a:solidFill>
                  <a:schemeClr val="tx2"/>
                </a:solidFill>
              </a:rPr>
              <a:t> </a:t>
            </a:r>
            <a:r>
              <a:rPr lang="en-GB" sz="1900" b="1" dirty="0">
                <a:solidFill>
                  <a:schemeClr val="tx2"/>
                </a:solidFill>
              </a:rPr>
              <a:t>S</a:t>
            </a:r>
            <a:r>
              <a:rPr sz="1900" b="1" dirty="0" err="1">
                <a:solidFill>
                  <a:schemeClr val="tx2"/>
                </a:solidFill>
              </a:rPr>
              <a:t>timuli</a:t>
            </a:r>
            <a:r>
              <a:rPr sz="1900" b="1" dirty="0">
                <a:solidFill>
                  <a:schemeClr val="tx2"/>
                </a:solidFill>
              </a:rPr>
              <a:t>. </a:t>
            </a:r>
            <a:endParaRPr lang="en-GB" sz="1600" b="1" dirty="0">
              <a:solidFill>
                <a:schemeClr val="tx2"/>
              </a:solidFill>
            </a:endParaRPr>
          </a:p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900" dirty="0" err="1">
                <a:solidFill>
                  <a:schemeClr val="tx2"/>
                </a:solidFill>
              </a:rPr>
              <a:t>PsychToolbox</a:t>
            </a:r>
            <a:r>
              <a:rPr lang="en-GB" sz="1900" dirty="0">
                <a:solidFill>
                  <a:schemeClr val="tx2"/>
                </a:solidFill>
              </a:rPr>
              <a:t> </a:t>
            </a:r>
            <a:r>
              <a:rPr sz="1900" dirty="0">
                <a:solidFill>
                  <a:schemeClr val="tx2"/>
                </a:solidFill>
              </a:rPr>
              <a:t>presents two flickers (1</a:t>
            </a:r>
            <a:r>
              <a:rPr lang="en-GB" sz="1900" dirty="0">
                <a:solidFill>
                  <a:schemeClr val="tx2"/>
                </a:solidFill>
              </a:rPr>
              <a:t>5</a:t>
            </a:r>
            <a:r>
              <a:rPr sz="1900" dirty="0">
                <a:solidFill>
                  <a:schemeClr val="tx2"/>
                </a:solidFill>
              </a:rPr>
              <a:t> Hz </a:t>
            </a:r>
            <a:r>
              <a:rPr lang="en-GB" sz="1900" dirty="0">
                <a:solidFill>
                  <a:schemeClr val="tx2"/>
                </a:solidFill>
              </a:rPr>
              <a:t>&amp;</a:t>
            </a:r>
            <a:r>
              <a:rPr sz="1900" dirty="0">
                <a:solidFill>
                  <a:schemeClr val="tx2"/>
                </a:solidFill>
              </a:rPr>
              <a:t> </a:t>
            </a:r>
            <a:r>
              <a:rPr lang="en-GB" sz="1900" dirty="0">
                <a:solidFill>
                  <a:schemeClr val="tx2"/>
                </a:solidFill>
              </a:rPr>
              <a:t>20</a:t>
            </a:r>
            <a:r>
              <a:rPr sz="1900" dirty="0">
                <a:solidFill>
                  <a:schemeClr val="tx2"/>
                </a:solidFill>
              </a:rPr>
              <a:t> Hz)</a:t>
            </a:r>
            <a:r>
              <a:rPr lang="en-GB" sz="1900" dirty="0">
                <a:solidFill>
                  <a:schemeClr val="tx2"/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900" dirty="0">
                <a:solidFill>
                  <a:schemeClr val="tx2"/>
                </a:solidFill>
              </a:rPr>
              <a:t>Unicorn interface r</a:t>
            </a:r>
            <a:r>
              <a:rPr sz="1900" dirty="0" err="1">
                <a:solidFill>
                  <a:schemeClr val="tx2"/>
                </a:solidFill>
              </a:rPr>
              <a:t>ecords</a:t>
            </a:r>
            <a:r>
              <a:rPr sz="1900" dirty="0">
                <a:solidFill>
                  <a:schemeClr val="tx2"/>
                </a:solidFill>
              </a:rPr>
              <a:t> EEG from </a:t>
            </a:r>
            <a:r>
              <a:rPr lang="en-GB" sz="1900" dirty="0">
                <a:solidFill>
                  <a:schemeClr val="tx2"/>
                </a:solidFill>
              </a:rPr>
              <a:t>dry </a:t>
            </a:r>
            <a:r>
              <a:rPr sz="1900" dirty="0">
                <a:solidFill>
                  <a:schemeClr val="tx2"/>
                </a:solidFill>
              </a:rPr>
              <a:t>channels</a:t>
            </a:r>
            <a:r>
              <a:rPr lang="en-GB" sz="19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900" dirty="0">
                <a:solidFill>
                  <a:schemeClr val="tx2"/>
                </a:solidFill>
              </a:rPr>
              <a:t>Visual evoked potentials from attending to either stimuli creates EEG signals which drives a 'knob' for music instrument selection.</a:t>
            </a: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900" b="1" dirty="0">
                <a:solidFill>
                  <a:schemeClr val="tx2"/>
                </a:solidFill>
              </a:rPr>
              <a:t>This technique is known as Steady-State Visual Evoked Potentials (SSVEPs)</a:t>
            </a: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900" b="1" dirty="0">
                <a:solidFill>
                  <a:schemeClr val="tx2"/>
                </a:solidFill>
              </a:rPr>
              <a:t>Our Classifier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900" dirty="0">
                <a:solidFill>
                  <a:schemeClr val="tx2"/>
                </a:solidFill>
              </a:rPr>
              <a:t>To c</a:t>
            </a:r>
            <a:r>
              <a:rPr sz="1900" dirty="0" err="1">
                <a:solidFill>
                  <a:schemeClr val="tx2"/>
                </a:solidFill>
              </a:rPr>
              <a:t>lassif</a:t>
            </a:r>
            <a:r>
              <a:rPr lang="en-GB" sz="1900" dirty="0">
                <a:solidFill>
                  <a:schemeClr val="tx2"/>
                </a:solidFill>
              </a:rPr>
              <a:t>y</a:t>
            </a:r>
            <a:r>
              <a:rPr sz="1900" dirty="0">
                <a:solidFill>
                  <a:schemeClr val="tx2"/>
                </a:solidFill>
              </a:rPr>
              <a:t> </a:t>
            </a:r>
            <a:r>
              <a:rPr lang="en-GB" sz="1900" dirty="0">
                <a:solidFill>
                  <a:schemeClr val="tx2"/>
                </a:solidFill>
              </a:rPr>
              <a:t>the SSVEPs, we use a</a:t>
            </a:r>
            <a:r>
              <a:rPr sz="1900" dirty="0">
                <a:solidFill>
                  <a:schemeClr val="tx2"/>
                </a:solidFill>
              </a:rPr>
              <a:t> </a:t>
            </a:r>
            <a:r>
              <a:rPr lang="en-GB" sz="1900" dirty="0">
                <a:solidFill>
                  <a:schemeClr val="tx2"/>
                </a:solidFill>
              </a:rPr>
              <a:t>Support Vector Machine (</a:t>
            </a:r>
            <a:r>
              <a:rPr sz="1900" dirty="0">
                <a:solidFill>
                  <a:schemeClr val="tx2"/>
                </a:solidFill>
              </a:rPr>
              <a:t>SVM</a:t>
            </a:r>
            <a:r>
              <a:rPr lang="en-GB" sz="1900" dirty="0">
                <a:solidFill>
                  <a:schemeClr val="tx2"/>
                </a:solidFill>
              </a:rPr>
              <a:t>) in the training phase to classify which stimulus (15 Hz &amp; 20 Hz), the user is attending to.</a:t>
            </a:r>
            <a:r>
              <a:rPr sz="1900" dirty="0">
                <a:solidFill>
                  <a:schemeClr val="tx2"/>
                </a:solidFill>
              </a:rPr>
              <a:t> </a:t>
            </a:r>
            <a:endParaRPr lang="en-GB" sz="1600" dirty="0">
              <a:solidFill>
                <a:schemeClr val="tx2"/>
              </a:solidFill>
            </a:endParaRP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FBFC-53BF-3ED9-FEC7-1886EAA9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>
            <a:extLst>
              <a:ext uri="{FF2B5EF4-FFF2-40B4-BE49-F238E27FC236}">
                <a16:creationId xmlns:a16="http://schemas.microsoft.com/office/drawing/2014/main" id="{62FFB2B5-3073-A9FD-8B91-E8656C701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6461FC-9D09-A8C5-E144-ABABB0B9BC87}"/>
              </a:ext>
            </a:extLst>
          </p:cNvPr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sz="2200" dirty="0">
                <a:solidFill>
                  <a:schemeClr val="bg1"/>
                </a:solidFill>
              </a:rPr>
              <a:t>What </a:t>
            </a:r>
            <a:r>
              <a:rPr lang="en-GB" sz="2200" dirty="0">
                <a:solidFill>
                  <a:schemeClr val="bg1"/>
                </a:solidFill>
              </a:rPr>
              <a:t>is SVM?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2D2C65-5ED1-2CF2-DC23-249A1F1DC2D9}"/>
              </a:ext>
            </a:extLst>
          </p:cNvPr>
          <p:cNvSpPr txBox="1"/>
          <p:nvPr/>
        </p:nvSpPr>
        <p:spPr>
          <a:xfrm>
            <a:off x="560852" y="5705474"/>
            <a:ext cx="7965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tx2"/>
                </a:solidFill>
              </a:rPr>
              <a:t>Can we Make Optimisations for our Classifier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2"/>
                </a:solidFill>
              </a:rPr>
              <a:t>Given Finnegan’s expertise we could potentially use PCA to strip out noisy components before it goes into the SVM (or another ML classifier).</a:t>
            </a:r>
          </a:p>
        </p:txBody>
      </p:sp>
      <p:pic>
        <p:nvPicPr>
          <p:cNvPr id="1026" name="Picture 2" descr="Support Vector Machine with Scikit-Learn: A Friendly Introduction | Towards  Data Science">
            <a:extLst>
              <a:ext uri="{FF2B5EF4-FFF2-40B4-BE49-F238E27FC236}">
                <a16:creationId xmlns:a16="http://schemas.microsoft.com/office/drawing/2014/main" id="{6A68BFBE-981C-3E70-F91E-649BDA5B6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909" y="3517931"/>
            <a:ext cx="2604000" cy="2187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389B65-40D2-7984-A5F7-96CADA2D01D6}"/>
              </a:ext>
            </a:extLst>
          </p:cNvPr>
          <p:cNvSpPr txBox="1"/>
          <p:nvPr/>
        </p:nvSpPr>
        <p:spPr>
          <a:xfrm>
            <a:off x="560852" y="1123610"/>
            <a:ext cx="78953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→ SVM finds the best line which divides between two groups of data points (e.g. 15hz wave &amp; 20hz wave).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sz="1800" dirty="0">
                <a:solidFill>
                  <a:schemeClr val="tx2"/>
                </a:solidFill>
              </a:rPr>
              <a:t>→ Picks a line that tries to partition the data so that the gap between the line and the closest data point on either side of the line are as wide as possible.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sz="1800" dirty="0">
                <a:solidFill>
                  <a:schemeClr val="tx2"/>
                </a:solidFill>
              </a:rPr>
              <a:t>→ If the data can’t separate cleanly with a straight line it uses a trick (known as a kernel function) to project the data onto a higher dimension where a clean split is possible.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0151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Intro to the MATLAB Folder </a:t>
            </a:r>
            <a:r>
              <a:rPr dirty="0"/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openBCI_EEG_stream/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16152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500" dirty="0">
                <a:solidFill>
                  <a:schemeClr val="tx2"/>
                </a:solidFill>
              </a:rPr>
              <a:t>Python LSL streamers for Cyton &amp; Unicorn headsets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openBCI_game/Presentation/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500" dirty="0">
                <a:solidFill>
                  <a:schemeClr val="tx2"/>
                </a:solidFill>
              </a:rPr>
              <a:t>MATLAB: visual stimuli, knob display, game rendering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openBCI_game/Processing/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2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500" dirty="0">
                <a:solidFill>
                  <a:schemeClr val="tx2"/>
                </a:solidFill>
              </a:rPr>
              <a:t>MATLAB: EEG acquisition, SVM training,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01568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openBCI_game/SharedFiles/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85031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500" dirty="0">
                <a:solidFill>
                  <a:schemeClr val="tx2"/>
                </a:solidFill>
              </a:rPr>
              <a:t>Text files for inter-process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24527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openBCI_game/Libraries/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07992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500" dirty="0" err="1">
                <a:solidFill>
                  <a:schemeClr val="tx2"/>
                </a:solidFill>
              </a:rPr>
              <a:t>Psychtoolbox</a:t>
            </a:r>
            <a:r>
              <a:rPr sz="1500" dirty="0">
                <a:solidFill>
                  <a:schemeClr val="tx2"/>
                </a:solidFill>
              </a:rPr>
              <a:t>, </a:t>
            </a:r>
            <a:r>
              <a:rPr sz="1500" dirty="0" err="1">
                <a:solidFill>
                  <a:schemeClr val="tx2"/>
                </a:solidFill>
              </a:rPr>
              <a:t>liblsl-Matlab</a:t>
            </a:r>
            <a:r>
              <a:rPr sz="1500" dirty="0">
                <a:solidFill>
                  <a:schemeClr val="tx2"/>
                </a:solidFill>
              </a:rPr>
              <a:t>, EEG_Analyses_v3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914400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93B"/>
                </a:solidFill>
                <a:latin typeface="Calibri"/>
              </a:defRPr>
            </a:pPr>
            <a:r>
              <a:rPr sz="2400"/>
              <a:t>Key Entry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41732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BCI_main.m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64592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300" dirty="0">
                <a:solidFill>
                  <a:schemeClr val="tx2"/>
                </a:solidFill>
              </a:rPr>
              <a:t>Primary entry point </a:t>
            </a:r>
            <a:r>
              <a:rPr lang="en-GB" sz="1300" dirty="0">
                <a:solidFill>
                  <a:schemeClr val="tx2"/>
                </a:solidFill>
              </a:rPr>
              <a:t>→</a:t>
            </a:r>
            <a:r>
              <a:rPr sz="1300" dirty="0">
                <a:solidFill>
                  <a:schemeClr val="tx2"/>
                </a:solidFill>
              </a:rPr>
              <a:t> trains SVM, launches display, classifies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05740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SSVEP_Display_Fig.m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28600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300" dirty="0">
                <a:solidFill>
                  <a:schemeClr val="tx2"/>
                </a:solidFill>
              </a:rPr>
              <a:t>MATLAB figure-based knob display (no PTB needed)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69748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realtimeEEGClassifier_CSV.m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92608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300" dirty="0">
                <a:solidFill>
                  <a:schemeClr val="tx2"/>
                </a:solidFill>
              </a:rPr>
              <a:t>CSV-based classifier (no Python/LSL needed)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33756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trainSSVEP_SVM.m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56616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300" dirty="0">
                <a:solidFill>
                  <a:schemeClr val="tx2"/>
                </a:solidFill>
              </a:rPr>
              <a:t>Trains linear SVM on </a:t>
            </a:r>
            <a:r>
              <a:rPr sz="1300" b="1" dirty="0">
                <a:solidFill>
                  <a:schemeClr val="tx2"/>
                </a:solidFill>
              </a:rPr>
              <a:t>15 Hz vs 20 Hz </a:t>
            </a:r>
            <a:r>
              <a:rPr sz="1300" dirty="0">
                <a:solidFill>
                  <a:schemeClr val="tx2"/>
                </a:solidFill>
              </a:rPr>
              <a:t>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97764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generateSyntheticSSVEP.m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20624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300" dirty="0">
                <a:solidFill>
                  <a:schemeClr val="tx2"/>
                </a:solidFill>
              </a:rPr>
              <a:t>Auto-generates demo data if CSVs missing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C3ADAF-36CB-2B9F-B5A4-821025AB4744}"/>
              </a:ext>
            </a:extLst>
          </p:cNvPr>
          <p:cNvSpPr txBox="1"/>
          <p:nvPr/>
        </p:nvSpPr>
        <p:spPr>
          <a:xfrm>
            <a:off x="640080" y="4908270"/>
            <a:ext cx="7815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tx2"/>
                </a:solidFill>
              </a:rPr>
              <a:t>See also README.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How to Run (MATLAB)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28090"/>
                </a:solidFill>
                <a:latin typeface="Calibri"/>
              </a:defRPr>
            </a:pPr>
            <a:r>
              <a:rPr lang="en-GB" dirty="0">
                <a:solidFill/>
              </a:rPr>
              <a:t>How to run with the synthetic data: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28090"/>
                </a:solidFill>
                <a:latin typeface="Calibri"/>
              </a:rPr>
              <a:t>Step 1:</a:t>
            </a:r>
            <a:r>
              <a:rPr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b="0" i="0" dirty="0">
                <a:solidFill>
                  <a:schemeClr val="tx2"/>
                </a:solidFill>
                <a:latin typeface="Calibri"/>
              </a:rPr>
              <a:t>cd to the Presentation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onsolas"/>
              </a:defRPr>
            </a:pPr>
            <a:r>
              <a:rPr sz="1700" dirty="0">
                <a:solidFill>
                  <a:schemeClr val="tx2"/>
                </a:solidFill>
              </a:rPr>
              <a:t>cd('.../</a:t>
            </a:r>
            <a:r>
              <a:rPr sz="1700" dirty="0" err="1">
                <a:solidFill>
                  <a:schemeClr val="tx2"/>
                </a:solidFill>
              </a:rPr>
              <a:t>SSVEP_Demo_Sel</a:t>
            </a:r>
            <a:r>
              <a:rPr sz="1700" dirty="0">
                <a:solidFill>
                  <a:schemeClr val="tx2"/>
                </a:solidFill>
              </a:rPr>
              <a:t>/</a:t>
            </a:r>
            <a:r>
              <a:rPr sz="1700" dirty="0" err="1">
                <a:solidFill>
                  <a:schemeClr val="tx2"/>
                </a:solidFill>
              </a:rPr>
              <a:t>SSVEP_Demo_Sel</a:t>
            </a:r>
            <a:r>
              <a:rPr sz="1700" dirty="0">
                <a:solidFill>
                  <a:schemeClr val="tx2"/>
                </a:solidFill>
              </a:rPr>
              <a:t>/</a:t>
            </a:r>
            <a:r>
              <a:rPr sz="1700" dirty="0" err="1">
                <a:solidFill>
                  <a:schemeClr val="tx2"/>
                </a:solidFill>
              </a:rPr>
              <a:t>openBCI_game</a:t>
            </a:r>
            <a:r>
              <a:rPr sz="1700" dirty="0">
                <a:solidFill>
                  <a:schemeClr val="tx2"/>
                </a:solidFill>
              </a:rPr>
              <a:t>/Presentation')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28090"/>
                </a:solidFill>
                <a:latin typeface="Calibri"/>
              </a:rPr>
              <a:t>Step 2:</a:t>
            </a:r>
            <a:r>
              <a:rPr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b="0" i="0" dirty="0">
                <a:solidFill>
                  <a:schemeClr val="tx2"/>
                </a:solidFill>
                <a:latin typeface="Calibri"/>
              </a:rPr>
              <a:t>Run </a:t>
            </a:r>
            <a:r>
              <a:rPr b="0" i="0" dirty="0" err="1">
                <a:solidFill>
                  <a:schemeClr val="tx2"/>
                </a:solidFill>
                <a:latin typeface="Calibri"/>
              </a:rPr>
              <a:t>BCI_main</a:t>
            </a:r>
            <a:endParaRPr b="0" i="0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onsolas"/>
              </a:defRPr>
            </a:pPr>
            <a:r>
              <a:rPr sz="1700" dirty="0">
                <a:solidFill>
                  <a:schemeClr val="tx2"/>
                </a:solidFill>
              </a:rPr>
              <a:t>&gt;&gt; </a:t>
            </a:r>
            <a:r>
              <a:rPr sz="1700" dirty="0" err="1">
                <a:solidFill>
                  <a:schemeClr val="tx2"/>
                </a:solidFill>
              </a:rPr>
              <a:t>BCI_main</a:t>
            </a:r>
            <a:endParaRPr sz="1400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28090"/>
                </a:solidFill>
                <a:latin typeface="Calibri"/>
              </a:rPr>
              <a:t>Step 3:</a:t>
            </a:r>
            <a:r>
              <a:rPr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b="0" i="0" dirty="0">
                <a:solidFill>
                  <a:schemeClr val="tx2"/>
                </a:solidFill>
                <a:latin typeface="Calibri"/>
              </a:rPr>
              <a:t>Watch the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onsolas"/>
              </a:defRPr>
            </a:pPr>
            <a:r>
              <a:rPr sz="1700" dirty="0">
                <a:solidFill>
                  <a:schemeClr val="tx2"/>
                </a:solidFill>
              </a:rPr>
              <a:t>SVM trains on synthetic data → knob display opens → classifier drives the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B7280"/>
                </a:solidFill>
                <a:latin typeface="Calibri"/>
              </a:defRPr>
            </a:pPr>
            <a:r>
              <a:rPr sz="2300" dirty="0">
                <a:solidFill>
                  <a:schemeClr val="tx2"/>
                </a:solidFill>
              </a:rPr>
              <a:t>If training CSVs are not found, the script auto-generates 30s of synthetic SSVEP data</a:t>
            </a:r>
            <a:r>
              <a:rPr lang="en-GB" sz="2300" dirty="0">
                <a:solidFill>
                  <a:schemeClr val="tx2"/>
                </a:solidFill>
              </a:rPr>
              <a:t> that I made for presentation purposes</a:t>
            </a:r>
            <a:r>
              <a:rPr sz="2300" dirty="0">
                <a:solidFill>
                  <a:schemeClr val="tx2"/>
                </a:solidFill>
              </a:rPr>
              <a:t>. MODE = 'csv' by default</a:t>
            </a:r>
            <a:r>
              <a:rPr lang="en-GB" sz="2300" dirty="0">
                <a:solidFill>
                  <a:schemeClr val="tx2"/>
                </a:solidFill>
              </a:rPr>
              <a:t>, we need to</a:t>
            </a:r>
            <a:r>
              <a:rPr sz="2300" dirty="0">
                <a:solidFill>
                  <a:schemeClr val="tx2"/>
                </a:solidFill>
              </a:rPr>
              <a:t> change to '</a:t>
            </a:r>
            <a:r>
              <a:rPr sz="2300" dirty="0" err="1">
                <a:solidFill>
                  <a:schemeClr val="tx2"/>
                </a:solidFill>
              </a:rPr>
              <a:t>lsl</a:t>
            </a:r>
            <a:r>
              <a:rPr sz="2300" dirty="0">
                <a:solidFill>
                  <a:schemeClr val="tx2"/>
                </a:solidFill>
              </a:rPr>
              <a:t>' for live EEG</a:t>
            </a:r>
            <a:r>
              <a:rPr lang="en-GB" sz="2300" dirty="0">
                <a:solidFill>
                  <a:schemeClr val="tx2"/>
                </a:solidFill>
              </a:rPr>
              <a:t> recording</a:t>
            </a:r>
            <a:r>
              <a:rPr sz="2300" dirty="0">
                <a:solidFill>
                  <a:schemeClr val="tx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Frequency Change: 14/18 Hz → 15/20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  <a:latin typeface="Calibri"/>
              </a:defRPr>
            </a:pPr>
            <a:r>
              <a:rPr dirty="0"/>
              <a:t>The original system used 14 Hz and 18 Hz stimulus frequencies. </a:t>
            </a:r>
            <a:endParaRPr lang="en-GB" dirty="0"/>
          </a:p>
          <a:p>
            <a:pPr>
              <a:defRPr sz="1800">
                <a:solidFill>
                  <a:srgbClr val="1E293B"/>
                </a:solidFill>
                <a:latin typeface="Calibri"/>
              </a:defRPr>
            </a:pPr>
            <a:endParaRPr lang="en-GB" dirty="0"/>
          </a:p>
          <a:p>
            <a:pPr>
              <a:defRPr sz="1800">
                <a:solidFill>
                  <a:srgbClr val="1E293B"/>
                </a:solidFill>
                <a:latin typeface="Calibri"/>
              </a:defRPr>
            </a:pPr>
            <a:r>
              <a:rPr lang="en-GB" dirty="0"/>
              <a:t>Later we realised that these </a:t>
            </a:r>
            <a:r>
              <a:rPr dirty="0"/>
              <a:t>do not divide evenly into the display’s </a:t>
            </a:r>
            <a:r>
              <a:rPr lang="en-GB" dirty="0"/>
              <a:t>120</a:t>
            </a:r>
            <a:r>
              <a:rPr dirty="0"/>
              <a:t>Hz refresh rate, </a:t>
            </a:r>
            <a:r>
              <a:rPr lang="en-GB" dirty="0"/>
              <a:t>resulting in </a:t>
            </a:r>
            <a:r>
              <a:rPr b="1" dirty="0"/>
              <a:t>uneven flicker timing </a:t>
            </a:r>
            <a:r>
              <a:rPr lang="en-GB" dirty="0"/>
              <a:t>which </a:t>
            </a:r>
            <a:r>
              <a:rPr lang="en-GB" dirty="0">
                <a:solidFill>
                  <a:schemeClr val="tx2"/>
                </a:solidFill>
              </a:rPr>
              <a:t>↓</a:t>
            </a:r>
            <a:r>
              <a:rPr lang="en-GB" dirty="0"/>
              <a:t> signal detection due to uneven visual evoked potentials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28559"/>
            <a:ext cx="24313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2626"/>
                </a:solidFill>
                <a:latin typeface="Calibri"/>
              </a:defRPr>
            </a:pPr>
            <a:r>
              <a:rPr sz="2400" dirty="0"/>
              <a:t>Before (14/18 Hz)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85759"/>
            <a:ext cx="338328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•  14 Hz: </a:t>
            </a:r>
            <a:r>
              <a:rPr lang="en-GB" sz="1700" dirty="0">
                <a:solidFill>
                  <a:schemeClr val="tx2"/>
                </a:solidFill>
              </a:rPr>
              <a:t>120/14 = 8.57 </a:t>
            </a:r>
            <a:r>
              <a:rPr dirty="0">
                <a:solidFill>
                  <a:schemeClr val="tx2"/>
                </a:solidFill>
              </a:rPr>
              <a:t>frames/cycle</a:t>
            </a:r>
          </a:p>
          <a:p>
            <a:pPr>
              <a:spcAft>
                <a:spcPts val="8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•  18 Hz: </a:t>
            </a:r>
            <a:r>
              <a:rPr lang="en-GB" sz="1700" dirty="0">
                <a:solidFill>
                  <a:schemeClr val="tx2"/>
                </a:solidFill>
              </a:rPr>
              <a:t>120/18 = 6.67 </a:t>
            </a:r>
            <a:r>
              <a:rPr dirty="0">
                <a:solidFill>
                  <a:schemeClr val="tx2"/>
                </a:solidFill>
              </a:rPr>
              <a:t>frames/cycle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3990" y="2971118"/>
            <a:ext cx="69602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28090"/>
                </a:solidFill>
              </a:defRPr>
            </a:pPr>
            <a:r>
              <a:rPr sz="4400" dirty="0"/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28559"/>
            <a:ext cx="22375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5803D"/>
                </a:solidFill>
                <a:latin typeface="Calibri"/>
              </a:defRPr>
            </a:pPr>
            <a:r>
              <a:rPr sz="2400"/>
              <a:t>After (15/20 Hz)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085759"/>
            <a:ext cx="338328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•  15 Hz: </a:t>
            </a:r>
            <a:r>
              <a:rPr lang="en-GB" sz="1700" dirty="0">
                <a:solidFill>
                  <a:schemeClr val="tx2"/>
                </a:solidFill>
              </a:rPr>
              <a:t>120/15 = </a:t>
            </a:r>
            <a:r>
              <a:rPr lang="en-GB" sz="1700" b="1" dirty="0">
                <a:solidFill>
                  <a:schemeClr val="tx2"/>
                </a:solidFill>
              </a:rPr>
              <a:t>8</a:t>
            </a:r>
            <a:r>
              <a:rPr dirty="0">
                <a:solidFill>
                  <a:schemeClr val="tx2"/>
                </a:solidFill>
              </a:rPr>
              <a:t> frames/cycle</a:t>
            </a:r>
          </a:p>
          <a:p>
            <a:pPr>
              <a:spcAft>
                <a:spcPts val="8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•  20 Hz: </a:t>
            </a:r>
            <a:r>
              <a:rPr lang="en-GB" sz="1700" dirty="0">
                <a:solidFill>
                  <a:schemeClr val="tx2"/>
                </a:solidFill>
              </a:rPr>
              <a:t>120/20 = </a:t>
            </a:r>
            <a:r>
              <a:rPr lang="en-GB" sz="1700" b="1" dirty="0">
                <a:solidFill>
                  <a:schemeClr val="tx2"/>
                </a:solidFill>
              </a:rPr>
              <a:t>6 </a:t>
            </a:r>
            <a:r>
              <a:rPr dirty="0">
                <a:solidFill>
                  <a:schemeClr val="tx2"/>
                </a:solidFill>
              </a:rPr>
              <a:t>frames/cycle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Known Issues &amp; What Needs Fixing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39744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rPr sz="1800">
                <a:solidFill/>
              </a:rPr>
              <a:t>Missing Training CSV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014064"/>
            <a:ext cx="7772400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6B7280"/>
                </a:solidFill>
                <a:latin typeface="Calibri"/>
              </a:defRPr>
            </a:pPr>
            <a:r>
              <a:rPr lang="en-GB" sz="1800" dirty="0">
                <a:solidFill>
                  <a:schemeClr val="tx2"/>
                </a:solidFill>
              </a:rPr>
              <a:t>The o</a:t>
            </a:r>
            <a:r>
              <a:rPr sz="1800" dirty="0" err="1">
                <a:solidFill>
                  <a:schemeClr val="tx2"/>
                </a:solidFill>
              </a:rPr>
              <a:t>riginal</a:t>
            </a:r>
            <a:r>
              <a:rPr sz="1800" dirty="0">
                <a:solidFill>
                  <a:schemeClr val="tx2"/>
                </a:solidFill>
              </a:rPr>
              <a:t> </a:t>
            </a:r>
            <a:r>
              <a:rPr lang="en-GB" sz="1800" dirty="0">
                <a:solidFill>
                  <a:schemeClr val="tx2"/>
                </a:solidFill>
              </a:rPr>
              <a:t>u</a:t>
            </a:r>
            <a:r>
              <a:rPr sz="1800" dirty="0" err="1">
                <a:solidFill>
                  <a:schemeClr val="tx2"/>
                </a:solidFill>
              </a:rPr>
              <a:t>nicorn</a:t>
            </a:r>
            <a:r>
              <a:rPr sz="1800" dirty="0">
                <a:solidFill>
                  <a:schemeClr val="tx2"/>
                </a:solidFill>
              </a:rPr>
              <a:t> </a:t>
            </a:r>
            <a:r>
              <a:rPr lang="en-GB" sz="1800" dirty="0">
                <a:solidFill>
                  <a:schemeClr val="tx2"/>
                </a:solidFill>
              </a:rPr>
              <a:t>r</a:t>
            </a:r>
            <a:r>
              <a:rPr sz="1800" dirty="0" err="1">
                <a:solidFill>
                  <a:schemeClr val="tx2"/>
                </a:solidFill>
              </a:rPr>
              <a:t>ecorder</a:t>
            </a:r>
            <a:r>
              <a:rPr sz="1800" dirty="0">
                <a:solidFill>
                  <a:schemeClr val="tx2"/>
                </a:solidFill>
              </a:rPr>
              <a:t> </a:t>
            </a:r>
            <a:r>
              <a:rPr lang="en-GB" sz="1800" dirty="0">
                <a:solidFill>
                  <a:schemeClr val="tx2"/>
                </a:solidFill>
              </a:rPr>
              <a:t>csv</a:t>
            </a:r>
            <a:r>
              <a:rPr sz="1800" dirty="0">
                <a:solidFill>
                  <a:schemeClr val="tx2"/>
                </a:solidFill>
              </a:rPr>
              <a:t>s from Dhruv</a:t>
            </a:r>
            <a:r>
              <a:rPr lang="en-GB" sz="1800" dirty="0">
                <a:solidFill>
                  <a:schemeClr val="tx2"/>
                </a:solidFill>
              </a:rPr>
              <a:t>’s computer, are </a:t>
            </a:r>
            <a:r>
              <a:rPr sz="1800" dirty="0">
                <a:solidFill>
                  <a:schemeClr val="tx2"/>
                </a:solidFill>
              </a:rPr>
              <a:t>not on </a:t>
            </a:r>
            <a:r>
              <a:rPr lang="en-GB" sz="1800" dirty="0">
                <a:solidFill>
                  <a:schemeClr val="tx2"/>
                </a:solidFill>
              </a:rPr>
              <a:t>my PC. 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rPr lang="en-GB" sz="1800" dirty="0">
                <a:solidFill>
                  <a:schemeClr val="tx2"/>
                </a:solidFill>
              </a:rPr>
              <a:t>	→ Regardless of whether I had these </a:t>
            </a:r>
            <a:r>
              <a:rPr lang="en-GB" sz="1800" dirty="0" err="1">
                <a:solidFill>
                  <a:schemeClr val="tx2"/>
                </a:solidFill>
              </a:rPr>
              <a:t>csvs</a:t>
            </a:r>
            <a:r>
              <a:rPr lang="en-GB" sz="1800" dirty="0">
                <a:solidFill>
                  <a:schemeClr val="tx2"/>
                </a:solidFill>
              </a:rPr>
              <a:t>, we need to retrain the SSVEP (if we decide to use it) to match 15/20hz instead of 14/18hz which it was originally trained on for signal detection accuracy.</a:t>
            </a:r>
            <a:endParaRPr sz="16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2285629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rPr sz="1800" dirty="0">
                <a:solidFill/>
              </a:rPr>
              <a:t>Flicker Timing (MATLAB Figures)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59949"/>
            <a:ext cx="777240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6B7280"/>
                </a:solidFill>
                <a:latin typeface="Calibri"/>
              </a:defRPr>
            </a:pPr>
            <a:r>
              <a:rPr sz="1800" dirty="0" err="1">
                <a:solidFill>
                  <a:schemeClr val="tx2"/>
                </a:solidFill>
              </a:rPr>
              <a:t>SSVEP_Display_Fig.m</a:t>
            </a:r>
            <a:r>
              <a:rPr sz="1800" dirty="0">
                <a:solidFill>
                  <a:schemeClr val="tx2"/>
                </a:solidFill>
              </a:rPr>
              <a:t> uses a ~60 Hz timer </a:t>
            </a:r>
            <a:r>
              <a:rPr lang="en-GB" sz="1800" dirty="0">
                <a:solidFill>
                  <a:schemeClr val="tx2"/>
                </a:solidFill>
              </a:rPr>
              <a:t>which I realise in hindsight was </a:t>
            </a:r>
            <a:r>
              <a:rPr sz="1800" b="1" dirty="0">
                <a:solidFill>
                  <a:schemeClr val="tx2"/>
                </a:solidFill>
              </a:rPr>
              <a:t>not</a:t>
            </a:r>
            <a:r>
              <a:rPr sz="1800" dirty="0">
                <a:solidFill>
                  <a:schemeClr val="tx2"/>
                </a:solidFill>
              </a:rPr>
              <a:t> frame-locked</a:t>
            </a:r>
            <a:r>
              <a:rPr lang="en-GB" sz="1800" dirty="0">
                <a:solidFill>
                  <a:schemeClr val="tx2"/>
                </a:solidFill>
              </a:rPr>
              <a:t> (and also was not matched to the refresh rate of my PC which we did our original demo on).</a:t>
            </a:r>
            <a:endParaRPr sz="1800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rPr lang="en-GB" sz="1800" dirty="0">
                <a:solidFill>
                  <a:schemeClr val="tx2"/>
                </a:solidFill>
              </a:rPr>
              <a:t>	→ This was f</a:t>
            </a:r>
            <a:r>
              <a:rPr sz="1800" dirty="0" err="1">
                <a:solidFill>
                  <a:schemeClr val="tx2"/>
                </a:solidFill>
              </a:rPr>
              <a:t>ine</a:t>
            </a:r>
            <a:r>
              <a:rPr sz="1800" dirty="0">
                <a:solidFill>
                  <a:schemeClr val="tx2"/>
                </a:solidFill>
              </a:rPr>
              <a:t> for </a:t>
            </a:r>
            <a:r>
              <a:rPr lang="en-GB" sz="1800" dirty="0">
                <a:solidFill>
                  <a:schemeClr val="tx2"/>
                </a:solidFill>
              </a:rPr>
              <a:t>our original </a:t>
            </a:r>
            <a:r>
              <a:rPr sz="1800" dirty="0">
                <a:solidFill>
                  <a:schemeClr val="tx2"/>
                </a:solidFill>
              </a:rPr>
              <a:t>demo, </a:t>
            </a:r>
            <a:r>
              <a:rPr lang="en-GB" sz="1800" dirty="0">
                <a:solidFill>
                  <a:schemeClr val="tx2"/>
                </a:solidFill>
              </a:rPr>
              <a:t>but realistically it was </a:t>
            </a:r>
            <a:r>
              <a:rPr sz="1800" dirty="0">
                <a:solidFill>
                  <a:schemeClr val="tx2"/>
                </a:solidFill>
              </a:rPr>
              <a:t>not precise enough for </a:t>
            </a:r>
            <a:r>
              <a:rPr lang="en-GB" sz="1800" dirty="0">
                <a:solidFill>
                  <a:schemeClr val="tx2"/>
                </a:solidFill>
              </a:rPr>
              <a:t>optimal decoding.</a:t>
            </a:r>
            <a:endParaRPr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1057</Words>
  <Application>Microsoft Office PowerPoint</Application>
  <PresentationFormat>On-screen Show (4:3)</PresentationFormat>
  <Paragraphs>95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 Porter</cp:lastModifiedBy>
  <cp:revision>2</cp:revision>
  <dcterms:created xsi:type="dcterms:W3CDTF">2013-01-27T09:14:16Z</dcterms:created>
  <dcterms:modified xsi:type="dcterms:W3CDTF">2026-03-26T15:05:31Z</dcterms:modified>
  <cp:category/>
</cp:coreProperties>
</file>